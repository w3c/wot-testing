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5"/>
  </p:notesMasterIdLst>
  <p:sldIdLst>
    <p:sldId id="264" r:id="rId2"/>
    <p:sldId id="263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4A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2FF712-B612-A54B-AE8F-6F837EBA62A6}" v="172" dt="2025-11-07T01:51:42.454"/>
    <p1510:client id="{ABC38C3E-45D9-4736-84E7-A06179AED78B}" v="5" dt="2025-11-07T02:11:37.5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42" autoAdjust="0"/>
    <p:restoredTop sz="95781"/>
  </p:normalViewPr>
  <p:slideViewPr>
    <p:cSldViewPr snapToGrid="0" snapToObjects="1">
      <p:cViewPr varScale="1">
        <p:scale>
          <a:sx n="105" d="100"/>
          <a:sy n="105" d="100"/>
        </p:scale>
        <p:origin x="512" y="4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11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9B5DD-0274-BF45-B4C5-62E173E8F63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16669-4A9E-2244-B321-FE3C257B7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1909D-80BC-1D32-EDED-7D91E5A4F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175DE-DB3B-31AB-834D-DD4819558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9FEF47-A39E-2070-CEBC-B82C5AC4E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81BAF-1BDD-9B3A-A15B-95B1C43B7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816669-4A9E-2244-B321-FE3C257B743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60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816669-4A9E-2244-B321-FE3C257B74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161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816669-4A9E-2244-B321-FE3C257B74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688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CDCF-83F0-654A-8E95-83ACE8329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428999"/>
            <a:ext cx="10515600" cy="1392589"/>
          </a:xfrm>
          <a:prstGeom prst="rect">
            <a:avLst/>
          </a:prstGeo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FDD66-E57C-D246-A8D3-5F7E64604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00977"/>
            <a:ext cx="9144000" cy="113735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A4BBE-75B1-9143-A887-FCA15B99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TPAC2025 breakout - Web of Things Live Demonstration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2FA7A7-1EC8-9A45-B674-9F5AA403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5125" y="483127"/>
            <a:ext cx="4641750" cy="276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45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7C6D-3AF4-704E-BA3F-6FC5B568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4F71-1642-7C4D-949F-4818DFEAE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E4CE4-F196-BF4E-8EF4-267B94BD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TPAC2025 breakout - Web of Things Live Demonstration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CB4A0-D1FD-9244-BC2D-7164B631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7370EC-1423-5441-922D-1AAFD5BB31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460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D314-C4FC-384A-835E-A6FA7C1C3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95E31-AF4D-A348-A7A9-7416D5CFB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BE2F7-A02E-2541-92F4-BB12DCEA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TPAC2025 breakout - Web of Things Live Demonstration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5E475-C185-8649-99DC-91A32B80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4E7543-36A1-9145-8718-DCB0BDDD9F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1F69A-4335-4B4E-B747-17F37F3C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020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619A-7211-0947-8360-23CE25F12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85332"/>
            <a:ext cx="5181600" cy="4991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2284B-15A7-584D-908E-45543479E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85332"/>
            <a:ext cx="5181600" cy="4991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9A9F6-1429-5E49-BAA4-1E84DC5B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TPAC2025 breakout - Web of Things Live Demonstration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93763-BF3C-C644-9F21-D1290C786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5401E6-623E-8449-A07B-6B5E2253AD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52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ABBC-6A16-9A46-A02F-79A517A3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7676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AB855-CE44-1647-A11E-35810E458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34005"/>
            <a:ext cx="5157787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E1739-9BD2-114D-9001-9767690E3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62112"/>
            <a:ext cx="5157787" cy="4527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260CC-435F-4B4A-921E-F825D9DAFD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132769"/>
            <a:ext cx="5183188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7B3BE-4412-2546-8A83-8211EDE2F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62112"/>
            <a:ext cx="5183188" cy="4527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91292-54C2-5B4B-BC92-96B7E584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TPAC2025 breakout - Web of Things Live Demonstration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B02B02-7BBA-3248-9E8D-33B01683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8F359D-97AE-244A-B6E0-7FABE799CE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70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A3E4-A9A0-B949-AB23-A7ED13D89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6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30B16-8D2B-964B-A82E-A1D8E578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TPAC2025 breakout - Web of Things Live Demonstration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EFDE2-192C-EB49-B93B-A5C074DE6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9864CA-5904-6E4C-94B5-D61D982EE8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9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8282D-B315-7747-81EE-E8722A589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TPAC2025 breakout - Web of Things Live Demonstration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647E0-FF85-FA4D-A8FA-E44590C1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5121D-E664-684B-8EE0-95412BB475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2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8BCA-0D11-EE4D-9447-2FD49C0E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EC554-6BD0-D046-93E8-160448B4C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04167"/>
            <a:ext cx="6172200" cy="49568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4FC1F-CB88-E848-A9AD-207062F13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478D4-36A8-D941-B07C-23AC977B5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TPAC2025 breakout - Web of Things Live Demonstration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275A4-A22A-5742-B711-4A30FC40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A484C7-B69E-1D4E-A042-8264DECEAC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08D0-7399-754A-98B1-12196A1EC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B8A4F-D838-F44B-BD4B-90A268DE7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FA813-173D-3F4D-9B47-2ADE7EDAA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5379-2EF0-014F-A404-9281AD5F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TPAC2025 breakout - Web of Things Live Demonstration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E44CB-9FEF-8E46-ADE7-C6878CCA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4E5D11-1589-8B43-AC25-08B65AFD2D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5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D7F8-1D21-E24C-867B-27076A86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30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5910-6C9B-1F48-8812-ECC4A33F6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EF138-5D7E-EE45-A145-963FACA6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TPAC2025 breakout - Web of Things Live Demonstration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F53AE-A2BC-DE4D-BB61-40C1BC3B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536F3-C8D2-4944-B4D4-6A4C8563FA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093626" y="5793141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7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0FF282-7893-604E-9578-505C40B71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731022" y="365125"/>
            <a:ext cx="1622778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972C3-333E-304A-AB27-C6CDCBED1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9282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82C37-09FF-6A4D-8C32-64A7F07F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TPAC2025 breakout - Web of Things Live Demonstration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B5B9D-9935-CE4E-A40E-BBED3145D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F9CC3B-F1C2-024E-9BCF-1306C0AC80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093626" y="5793141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81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F3363-D36B-4942-87A8-FED6DF69A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8222"/>
            <a:ext cx="10515600" cy="487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5CA93B93-3243-C248-A970-24A76A358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2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E28B5F4-1EA0-4A4B-8D85-A0B1CB6C7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W3C TPAC2025 breakout - Web of Things Live Demonstration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8BACC8E-7FE2-EE49-8CEA-AAD5143CE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2025-11-12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D3E7A09-626A-BA49-9FC3-7280AA1F9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55BDE2E-7167-1944-9FEE-E44668D91C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66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pn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11" Type="http://schemas.openxmlformats.org/officeDocument/2006/relationships/image" Target="../media/image13.pn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3A045-D791-FD54-16EB-DBB12DE55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82">
            <a:extLst>
              <a:ext uri="{FF2B5EF4-FFF2-40B4-BE49-F238E27FC236}">
                <a16:creationId xmlns:a16="http://schemas.microsoft.com/office/drawing/2014/main" id="{9A1BE948-5983-2403-881C-AF1532BECB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5990" y="5585256"/>
            <a:ext cx="1210103" cy="680683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1D68F44C-788E-FAB9-E2FD-27346BFB36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76093" y="5585256"/>
            <a:ext cx="1210103" cy="680683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16E7BE02-2688-8FE0-E659-A20D213CA62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60267" y="5725807"/>
            <a:ext cx="817663" cy="668194"/>
          </a:xfrm>
          <a:prstGeom prst="rect">
            <a:avLst/>
          </a:prstGeom>
        </p:spPr>
      </p:pic>
      <p:pic>
        <p:nvPicPr>
          <p:cNvPr id="203" name="Picture 202">
            <a:extLst>
              <a:ext uri="{FF2B5EF4-FFF2-40B4-BE49-F238E27FC236}">
                <a16:creationId xmlns:a16="http://schemas.microsoft.com/office/drawing/2014/main" id="{2AD309E5-8067-E622-CE3B-AC82E29E27A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65494" y="5801493"/>
            <a:ext cx="861119" cy="544134"/>
          </a:xfrm>
          <a:prstGeom prst="rect">
            <a:avLst/>
          </a:prstGeom>
        </p:spPr>
      </p:pic>
      <p:pic>
        <p:nvPicPr>
          <p:cNvPr id="201" name="Picture 200">
            <a:extLst>
              <a:ext uri="{FF2B5EF4-FFF2-40B4-BE49-F238E27FC236}">
                <a16:creationId xmlns:a16="http://schemas.microsoft.com/office/drawing/2014/main" id="{C12ACA5A-C496-F52E-FDBC-59FE675B9DA1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02666" y="5759982"/>
            <a:ext cx="975749" cy="612846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7443D23D-2BFC-26C7-EE93-F8506C0D07D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25300" y="3644330"/>
            <a:ext cx="1076984" cy="829769"/>
          </a:xfrm>
          <a:prstGeom prst="rect">
            <a:avLst/>
          </a:prstGeom>
        </p:spPr>
      </p:pic>
      <p:pic>
        <p:nvPicPr>
          <p:cNvPr id="188" name="Picture 187">
            <a:extLst>
              <a:ext uri="{FF2B5EF4-FFF2-40B4-BE49-F238E27FC236}">
                <a16:creationId xmlns:a16="http://schemas.microsoft.com/office/drawing/2014/main" id="{19CC3802-5189-FC50-0310-05ECA8FE2DD8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371045" y="3687737"/>
            <a:ext cx="1115453" cy="943135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8E221B61-660F-F484-B602-014BBA225E48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33582" y="3607706"/>
            <a:ext cx="1079731" cy="1111047"/>
          </a:xfrm>
          <a:prstGeom prst="rect">
            <a:avLst/>
          </a:prstGeom>
        </p:spPr>
      </p:pic>
      <p:pic>
        <p:nvPicPr>
          <p:cNvPr id="192" name="Picture 191">
            <a:extLst>
              <a:ext uri="{FF2B5EF4-FFF2-40B4-BE49-F238E27FC236}">
                <a16:creationId xmlns:a16="http://schemas.microsoft.com/office/drawing/2014/main" id="{3A183A2D-8802-9C16-B3D8-AE415B6A823B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0800000">
            <a:off x="3263101" y="3694344"/>
            <a:ext cx="1089617" cy="772943"/>
          </a:xfrm>
          <a:prstGeom prst="rect">
            <a:avLst/>
          </a:pr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B4AAD07F-A6D6-F416-2BBA-EA4CD9666FE0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12190" y="5393145"/>
            <a:ext cx="1086746" cy="923357"/>
          </a:xfrm>
          <a:prstGeom prst="rect">
            <a:avLst/>
          </a:prstGeom>
        </p:spPr>
      </p:pic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A909D6BE-05E6-7698-97AB-AABF740F3884}"/>
              </a:ext>
            </a:extLst>
          </p:cNvPr>
          <p:cNvSpPr/>
          <p:nvPr/>
        </p:nvSpPr>
        <p:spPr>
          <a:xfrm>
            <a:off x="304800" y="1136073"/>
            <a:ext cx="9418985" cy="5585402"/>
          </a:xfrm>
          <a:prstGeom prst="roundRect">
            <a:avLst>
              <a:gd name="adj" fmla="val 5257"/>
            </a:avLst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A1B2A2-6483-2D80-4BE3-E9E09E5C3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59" y="379337"/>
            <a:ext cx="10515600" cy="657370"/>
          </a:xfrm>
        </p:spPr>
        <p:txBody>
          <a:bodyPr>
            <a:noAutofit/>
          </a:bodyPr>
          <a:lstStyle/>
          <a:p>
            <a:r>
              <a:rPr lang="en-US" sz="4000" b="1" dirty="0"/>
              <a:t>TPAC2025 WoT plugfest network configuration</a:t>
            </a:r>
            <a:endParaRPr lang="en-JP" sz="4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92E404-35E2-309C-5ADB-2418C7D98DD6}"/>
              </a:ext>
            </a:extLst>
          </p:cNvPr>
          <p:cNvSpPr/>
          <p:nvPr/>
        </p:nvSpPr>
        <p:spPr>
          <a:xfrm>
            <a:off x="3886499" y="1246108"/>
            <a:ext cx="2549237" cy="4909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Plugfest wifi / Ethernet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C34EC6-7E08-672B-3F17-5858DE947384}"/>
              </a:ext>
            </a:extLst>
          </p:cNvPr>
          <p:cNvSpPr/>
          <p:nvPr/>
        </p:nvSpPr>
        <p:spPr>
          <a:xfrm>
            <a:off x="8423631" y="1626429"/>
            <a:ext cx="1300154" cy="5422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TPAC</a:t>
            </a:r>
          </a:p>
          <a:p>
            <a:pPr algn="ctr"/>
            <a:r>
              <a:rPr lang="en-JP" dirty="0"/>
              <a:t>WiFi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A7B25AE-FEF0-6D39-9F6D-CC07C2BC0CCD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6435736" y="1491604"/>
            <a:ext cx="1987895" cy="405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38A85AC-EEA0-AD76-CD18-7A47F5ACEF57}"/>
              </a:ext>
            </a:extLst>
          </p:cNvPr>
          <p:cNvSpPr/>
          <p:nvPr/>
        </p:nvSpPr>
        <p:spPr>
          <a:xfrm>
            <a:off x="4910328" y="3037604"/>
            <a:ext cx="1812967" cy="668193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ECHONET</a:t>
            </a:r>
          </a:p>
          <a:p>
            <a:pPr algn="ctr"/>
            <a:r>
              <a:rPr lang="en-JP" dirty="0"/>
              <a:t>WoT Proxy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EA13C5-6BD6-E6D7-7BE6-1591C9CE80DE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>
            <a:off x="5161118" y="1737100"/>
            <a:ext cx="655694" cy="1300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8864AA2-1C67-DF12-1267-6237E3C4C9A2}"/>
              </a:ext>
            </a:extLst>
          </p:cNvPr>
          <p:cNvSpPr/>
          <p:nvPr/>
        </p:nvSpPr>
        <p:spPr>
          <a:xfrm>
            <a:off x="2918942" y="3052791"/>
            <a:ext cx="1748976" cy="668193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Hitachi</a:t>
            </a:r>
          </a:p>
          <a:p>
            <a:pPr algn="ctr"/>
            <a:r>
              <a:rPr lang="en-JP" dirty="0"/>
              <a:t>Motor/Encoder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74AC4A2-C9F0-1619-920A-F4A7D94B751C}"/>
              </a:ext>
            </a:extLst>
          </p:cNvPr>
          <p:cNvCxnSpPr>
            <a:cxnSpLocks/>
            <a:stCxn id="9" idx="2"/>
            <a:endCxn id="21" idx="0"/>
          </p:cNvCxnSpPr>
          <p:nvPr/>
        </p:nvCxnSpPr>
        <p:spPr>
          <a:xfrm flipH="1">
            <a:off x="3793430" y="1737100"/>
            <a:ext cx="1367688" cy="13156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8912171-CEBE-ABD5-F478-9A7692A68887}"/>
              </a:ext>
            </a:extLst>
          </p:cNvPr>
          <p:cNvSpPr/>
          <p:nvPr/>
        </p:nvSpPr>
        <p:spPr>
          <a:xfrm>
            <a:off x="6939642" y="3063305"/>
            <a:ext cx="2556687" cy="6681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Consumers</a:t>
            </a:r>
          </a:p>
          <a:p>
            <a:pPr algn="ctr"/>
            <a:r>
              <a:rPr lang="en-JP" dirty="0"/>
              <a:t>(Hitachi, Conexxus, ...)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06CB292-049A-AB15-3A92-4DDD044425A8}"/>
              </a:ext>
            </a:extLst>
          </p:cNvPr>
          <p:cNvCxnSpPr>
            <a:cxnSpLocks/>
            <a:stCxn id="9" idx="2"/>
            <a:endCxn id="25" idx="0"/>
          </p:cNvCxnSpPr>
          <p:nvPr/>
        </p:nvCxnSpPr>
        <p:spPr>
          <a:xfrm>
            <a:off x="5161118" y="1737100"/>
            <a:ext cx="3056868" cy="13262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97E2B02-05B8-3CBD-1FDD-41E61C26BFD6}"/>
              </a:ext>
            </a:extLst>
          </p:cNvPr>
          <p:cNvSpPr/>
          <p:nvPr/>
        </p:nvSpPr>
        <p:spPr>
          <a:xfrm>
            <a:off x="430804" y="3063305"/>
            <a:ext cx="2211691" cy="668193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Conexxus</a:t>
            </a:r>
          </a:p>
          <a:p>
            <a:pPr algn="ctr"/>
            <a:r>
              <a:rPr lang="en-US" dirty="0"/>
              <a:t>Cash Deposit Device</a:t>
            </a:r>
            <a:endParaRPr lang="en-JP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9996600-AE30-89A3-F315-1A44081BCF01}"/>
              </a:ext>
            </a:extLst>
          </p:cNvPr>
          <p:cNvCxnSpPr>
            <a:cxnSpLocks/>
            <a:stCxn id="9" idx="2"/>
            <a:endCxn id="33" idx="0"/>
          </p:cNvCxnSpPr>
          <p:nvPr/>
        </p:nvCxnSpPr>
        <p:spPr>
          <a:xfrm flipH="1">
            <a:off x="1536650" y="1737100"/>
            <a:ext cx="3624468" cy="13262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D54C68F-E43B-1585-DA0D-28F7324D201A}"/>
              </a:ext>
            </a:extLst>
          </p:cNvPr>
          <p:cNvCxnSpPr>
            <a:cxnSpLocks/>
            <a:stCxn id="44" idx="3"/>
            <a:endCxn id="42" idx="1"/>
          </p:cNvCxnSpPr>
          <p:nvPr/>
        </p:nvCxnSpPr>
        <p:spPr>
          <a:xfrm flipV="1">
            <a:off x="8493164" y="4983470"/>
            <a:ext cx="333797" cy="240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AAB09D49-83CB-D678-2947-78B388A8EE5E}"/>
              </a:ext>
            </a:extLst>
          </p:cNvPr>
          <p:cNvSpPr/>
          <p:nvPr/>
        </p:nvSpPr>
        <p:spPr>
          <a:xfrm>
            <a:off x="3962967" y="5483787"/>
            <a:ext cx="718455" cy="347195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Door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584AACE-5167-2B04-DD81-73968B89E4C0}"/>
              </a:ext>
            </a:extLst>
          </p:cNvPr>
          <p:cNvSpPr/>
          <p:nvPr/>
        </p:nvSpPr>
        <p:spPr>
          <a:xfrm>
            <a:off x="4850152" y="5483786"/>
            <a:ext cx="861456" cy="347195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AirCon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CDC5B23-CD04-D640-8FF5-A47D0748010E}"/>
              </a:ext>
            </a:extLst>
          </p:cNvPr>
          <p:cNvSpPr/>
          <p:nvPr/>
        </p:nvSpPr>
        <p:spPr>
          <a:xfrm>
            <a:off x="5865494" y="5483786"/>
            <a:ext cx="861456" cy="347195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Light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E339C4D-B0D6-2342-9E95-BD26051B1DAC}"/>
              </a:ext>
            </a:extLst>
          </p:cNvPr>
          <p:cNvSpPr/>
          <p:nvPr/>
        </p:nvSpPr>
        <p:spPr>
          <a:xfrm>
            <a:off x="10072005" y="4835713"/>
            <a:ext cx="1804805" cy="776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ECHONET</a:t>
            </a:r>
          </a:p>
          <a:p>
            <a:pPr algn="ctr"/>
            <a:r>
              <a:rPr lang="en-JP" dirty="0"/>
              <a:t>remote devices</a:t>
            </a:r>
          </a:p>
          <a:p>
            <a:pPr algn="ctr"/>
            <a:r>
              <a:rPr lang="en-JP" dirty="0"/>
              <a:t>(in Ishikawa)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111455F-E55C-BE6B-1949-26546C3E7B93}"/>
              </a:ext>
            </a:extLst>
          </p:cNvPr>
          <p:cNvCxnSpPr>
            <a:cxnSpLocks/>
            <a:stCxn id="50" idx="0"/>
            <a:endCxn id="53" idx="2"/>
          </p:cNvCxnSpPr>
          <p:nvPr/>
        </p:nvCxnSpPr>
        <p:spPr>
          <a:xfrm flipH="1" flipV="1">
            <a:off x="10953863" y="3731498"/>
            <a:ext cx="20545" cy="1104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A6BBD6F-7C68-0AC1-DCF0-6CB7926E9318}"/>
              </a:ext>
            </a:extLst>
          </p:cNvPr>
          <p:cNvCxnSpPr>
            <a:cxnSpLocks/>
            <a:stCxn id="47" idx="0"/>
            <a:endCxn id="44" idx="1"/>
          </p:cNvCxnSpPr>
          <p:nvPr/>
        </p:nvCxnSpPr>
        <p:spPr>
          <a:xfrm flipV="1">
            <a:off x="4322195" y="5223970"/>
            <a:ext cx="2653443" cy="2598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A89AC33-B7D6-7726-F737-7AAB542B31B6}"/>
              </a:ext>
            </a:extLst>
          </p:cNvPr>
          <p:cNvCxnSpPr>
            <a:cxnSpLocks/>
            <a:stCxn id="48" idx="0"/>
            <a:endCxn id="44" idx="1"/>
          </p:cNvCxnSpPr>
          <p:nvPr/>
        </p:nvCxnSpPr>
        <p:spPr>
          <a:xfrm flipV="1">
            <a:off x="5280880" y="5223970"/>
            <a:ext cx="1694758" cy="259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9191524-C649-A228-0F0B-159FC9204B36}"/>
              </a:ext>
            </a:extLst>
          </p:cNvPr>
          <p:cNvCxnSpPr>
            <a:cxnSpLocks/>
            <a:stCxn id="49" idx="0"/>
            <a:endCxn id="44" idx="1"/>
          </p:cNvCxnSpPr>
          <p:nvPr/>
        </p:nvCxnSpPr>
        <p:spPr>
          <a:xfrm flipV="1">
            <a:off x="6296222" y="5223970"/>
            <a:ext cx="679416" cy="259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Picture 35">
            <a:extLst>
              <a:ext uri="{FF2B5EF4-FFF2-40B4-BE49-F238E27FC236}">
                <a16:creationId xmlns:a16="http://schemas.microsoft.com/office/drawing/2014/main" id="{DA2973EE-8411-F13D-0E8C-28832B8CDD5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2255" y="2823715"/>
            <a:ext cx="333376" cy="400596"/>
          </a:xfrm>
          <a:prstGeom prst="rect">
            <a:avLst/>
          </a:prstGeom>
        </p:spPr>
      </p:pic>
      <p:pic>
        <p:nvPicPr>
          <p:cNvPr id="75" name="Picture 35">
            <a:extLst>
              <a:ext uri="{FF2B5EF4-FFF2-40B4-BE49-F238E27FC236}">
                <a16:creationId xmlns:a16="http://schemas.microsoft.com/office/drawing/2014/main" id="{597D2123-F6C3-1588-7060-CB10E7F9D7A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4979" y="2786057"/>
            <a:ext cx="333376" cy="400596"/>
          </a:xfrm>
          <a:prstGeom prst="rect">
            <a:avLst/>
          </a:prstGeom>
        </p:spPr>
      </p:pic>
      <p:pic>
        <p:nvPicPr>
          <p:cNvPr id="77" name="Picture 35">
            <a:extLst>
              <a:ext uri="{FF2B5EF4-FFF2-40B4-BE49-F238E27FC236}">
                <a16:creationId xmlns:a16="http://schemas.microsoft.com/office/drawing/2014/main" id="{CBFAF115-D05C-E3E1-81C3-5D0A8036955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00" y="2806502"/>
            <a:ext cx="333376" cy="400596"/>
          </a:xfrm>
          <a:prstGeom prst="rect">
            <a:avLst/>
          </a:prstGeom>
        </p:spPr>
      </p:pic>
      <p:pic>
        <p:nvPicPr>
          <p:cNvPr id="109" name="Picture 35">
            <a:extLst>
              <a:ext uri="{FF2B5EF4-FFF2-40B4-BE49-F238E27FC236}">
                <a16:creationId xmlns:a16="http://schemas.microsoft.com/office/drawing/2014/main" id="{83B0A916-20C1-713B-65BF-02A75A1F190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2766" y="2832908"/>
            <a:ext cx="333376" cy="40059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9A128A-3D56-C2C6-17FA-20B3026310EE}"/>
              </a:ext>
            </a:extLst>
          </p:cNvPr>
          <p:cNvCxnSpPr>
            <a:cxnSpLocks/>
            <a:stCxn id="10" idx="1"/>
            <a:endCxn id="17" idx="0"/>
          </p:cNvCxnSpPr>
          <p:nvPr/>
        </p:nvCxnSpPr>
        <p:spPr>
          <a:xfrm flipH="1">
            <a:off x="5816812" y="1897564"/>
            <a:ext cx="2606819" cy="114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ADD471A-4E93-C1B3-1E20-B7AB405E834A}"/>
              </a:ext>
            </a:extLst>
          </p:cNvPr>
          <p:cNvCxnSpPr>
            <a:cxnSpLocks/>
            <a:stCxn id="10" idx="3"/>
            <a:endCxn id="16" idx="3"/>
          </p:cNvCxnSpPr>
          <p:nvPr/>
        </p:nvCxnSpPr>
        <p:spPr>
          <a:xfrm>
            <a:off x="9723785" y="1897564"/>
            <a:ext cx="1148174" cy="368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A14A1965-AE8A-E788-7909-9EC94FEB608D}"/>
              </a:ext>
            </a:extLst>
          </p:cNvPr>
          <p:cNvSpPr/>
          <p:nvPr/>
        </p:nvSpPr>
        <p:spPr>
          <a:xfrm>
            <a:off x="8826961" y="4670937"/>
            <a:ext cx="887292" cy="6250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mobile router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2E0AC59-164E-4889-066D-37ED0779A6F5}"/>
              </a:ext>
            </a:extLst>
          </p:cNvPr>
          <p:cNvCxnSpPr>
            <a:cxnSpLocks/>
            <a:stCxn id="53" idx="2"/>
            <a:endCxn id="42" idx="3"/>
          </p:cNvCxnSpPr>
          <p:nvPr/>
        </p:nvCxnSpPr>
        <p:spPr>
          <a:xfrm flipH="1">
            <a:off x="9714253" y="3731498"/>
            <a:ext cx="1239610" cy="12519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E9966859-0464-78C3-EA3E-CBBF70631158}"/>
              </a:ext>
            </a:extLst>
          </p:cNvPr>
          <p:cNvSpPr/>
          <p:nvPr/>
        </p:nvSpPr>
        <p:spPr>
          <a:xfrm>
            <a:off x="10153909" y="3093614"/>
            <a:ext cx="1599907" cy="637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ECHONET lite Web API GW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755AF460-1147-8C65-F447-7A619ACFDED8}"/>
              </a:ext>
            </a:extLst>
          </p:cNvPr>
          <p:cNvCxnSpPr>
            <a:cxnSpLocks/>
            <a:stCxn id="53" idx="0"/>
            <a:endCxn id="16" idx="1"/>
          </p:cNvCxnSpPr>
          <p:nvPr/>
        </p:nvCxnSpPr>
        <p:spPr>
          <a:xfrm flipH="1" flipV="1">
            <a:off x="10871959" y="2815002"/>
            <a:ext cx="81904" cy="2786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loud 15">
            <a:extLst>
              <a:ext uri="{FF2B5EF4-FFF2-40B4-BE49-F238E27FC236}">
                <a16:creationId xmlns:a16="http://schemas.microsoft.com/office/drawing/2014/main" id="{E9CD3CD0-90AF-456D-2D90-41277B1BFD5F}"/>
              </a:ext>
            </a:extLst>
          </p:cNvPr>
          <p:cNvSpPr/>
          <p:nvPr/>
        </p:nvSpPr>
        <p:spPr>
          <a:xfrm>
            <a:off x="10072005" y="2232604"/>
            <a:ext cx="1599907" cy="583019"/>
          </a:xfrm>
          <a:prstGeom prst="clou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ysClr val="windowText" lastClr="000000"/>
                </a:solidFill>
              </a:rPr>
              <a:t>Internet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1A4CE2C-3946-17A8-1858-C9B551D4D190}"/>
              </a:ext>
            </a:extLst>
          </p:cNvPr>
          <p:cNvSpPr txBox="1"/>
          <p:nvPr/>
        </p:nvSpPr>
        <p:spPr>
          <a:xfrm>
            <a:off x="436667" y="1208589"/>
            <a:ext cx="12405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2000" dirty="0"/>
              <a:t>Room 307</a:t>
            </a:r>
          </a:p>
        </p:txBody>
      </p:sp>
      <p:cxnSp>
        <p:nvCxnSpPr>
          <p:cNvPr id="147" name="Curved Connector 146">
            <a:extLst>
              <a:ext uri="{FF2B5EF4-FFF2-40B4-BE49-F238E27FC236}">
                <a16:creationId xmlns:a16="http://schemas.microsoft.com/office/drawing/2014/main" id="{4C0C06F6-B1C2-31A0-1464-518B102BF8E1}"/>
              </a:ext>
            </a:extLst>
          </p:cNvPr>
          <p:cNvCxnSpPr>
            <a:cxnSpLocks/>
            <a:stCxn id="47" idx="0"/>
            <a:endCxn id="17" idx="2"/>
          </p:cNvCxnSpPr>
          <p:nvPr/>
        </p:nvCxnSpPr>
        <p:spPr>
          <a:xfrm rot="5400000" flipH="1" flipV="1">
            <a:off x="4180508" y="3847484"/>
            <a:ext cx="1777990" cy="1494617"/>
          </a:xfrm>
          <a:prstGeom prst="curvedConnector3">
            <a:avLst>
              <a:gd name="adj1" fmla="val 50000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urved Connector 148">
            <a:extLst>
              <a:ext uri="{FF2B5EF4-FFF2-40B4-BE49-F238E27FC236}">
                <a16:creationId xmlns:a16="http://schemas.microsoft.com/office/drawing/2014/main" id="{1CFE084A-5018-E2C0-E380-1CCCAA45AF9C}"/>
              </a:ext>
            </a:extLst>
          </p:cNvPr>
          <p:cNvCxnSpPr>
            <a:cxnSpLocks/>
            <a:stCxn id="48" idx="0"/>
            <a:endCxn id="17" idx="2"/>
          </p:cNvCxnSpPr>
          <p:nvPr/>
        </p:nvCxnSpPr>
        <p:spPr>
          <a:xfrm rot="5400000" flipH="1" flipV="1">
            <a:off x="4659852" y="4326826"/>
            <a:ext cx="1777989" cy="535932"/>
          </a:xfrm>
          <a:prstGeom prst="curvedConnector3">
            <a:avLst>
              <a:gd name="adj1" fmla="val 50000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urved Connector 151">
            <a:extLst>
              <a:ext uri="{FF2B5EF4-FFF2-40B4-BE49-F238E27FC236}">
                <a16:creationId xmlns:a16="http://schemas.microsoft.com/office/drawing/2014/main" id="{ADAD54C3-3041-7D12-5CAB-18221320957E}"/>
              </a:ext>
            </a:extLst>
          </p:cNvPr>
          <p:cNvCxnSpPr>
            <a:cxnSpLocks/>
            <a:stCxn id="49" idx="0"/>
            <a:endCxn id="17" idx="2"/>
          </p:cNvCxnSpPr>
          <p:nvPr/>
        </p:nvCxnSpPr>
        <p:spPr>
          <a:xfrm rot="16200000" flipV="1">
            <a:off x="5167523" y="4355087"/>
            <a:ext cx="1777989" cy="479410"/>
          </a:xfrm>
          <a:prstGeom prst="curvedConnector3">
            <a:avLst>
              <a:gd name="adj1" fmla="val 50000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urved Connector 154">
            <a:extLst>
              <a:ext uri="{FF2B5EF4-FFF2-40B4-BE49-F238E27FC236}">
                <a16:creationId xmlns:a16="http://schemas.microsoft.com/office/drawing/2014/main" id="{C2F5C35D-A31A-B720-2D6E-7E70B7DB745D}"/>
              </a:ext>
            </a:extLst>
          </p:cNvPr>
          <p:cNvCxnSpPr>
            <a:cxnSpLocks/>
            <a:stCxn id="50" idx="0"/>
            <a:endCxn id="17" idx="2"/>
          </p:cNvCxnSpPr>
          <p:nvPr/>
        </p:nvCxnSpPr>
        <p:spPr>
          <a:xfrm rot="16200000" flipV="1">
            <a:off x="7830652" y="1691957"/>
            <a:ext cx="1129916" cy="5157596"/>
          </a:xfrm>
          <a:prstGeom prst="curvedConnector3">
            <a:avLst>
              <a:gd name="adj1" fmla="val 50000"/>
            </a:avLst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67FA7541-1CA9-5B3C-7C77-2E60536C5FBC}"/>
              </a:ext>
            </a:extLst>
          </p:cNvPr>
          <p:cNvSpPr/>
          <p:nvPr/>
        </p:nvSpPr>
        <p:spPr>
          <a:xfrm>
            <a:off x="6975638" y="4966254"/>
            <a:ext cx="1517526" cy="5154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ECHONET lite</a:t>
            </a:r>
          </a:p>
          <a:p>
            <a:pPr algn="ctr"/>
            <a:r>
              <a:rPr lang="en-JP" dirty="0"/>
              <a:t>controller</a:t>
            </a:r>
          </a:p>
        </p:txBody>
      </p:sp>
    </p:spTree>
    <p:extLst>
      <p:ext uri="{BB962C8B-B14F-4D97-AF65-F5344CB8AC3E}">
        <p14:creationId xmlns:p14="http://schemas.microsoft.com/office/powerpoint/2010/main" val="286768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B47BE2-EAD8-1BDA-C4EB-E1E4AD090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W3C TPAC2025 breakout - Web of Things Live Demonstration</a:t>
            </a:r>
          </a:p>
        </p:txBody>
      </p:sp>
      <p:pic>
        <p:nvPicPr>
          <p:cNvPr id="205" name="Picture 204">
            <a:extLst>
              <a:ext uri="{FF2B5EF4-FFF2-40B4-BE49-F238E27FC236}">
                <a16:creationId xmlns:a16="http://schemas.microsoft.com/office/drawing/2014/main" id="{FE675CAF-A688-9651-202C-217642E6D41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39292" y="5878037"/>
            <a:ext cx="817663" cy="668194"/>
          </a:xfrm>
          <a:prstGeom prst="rect">
            <a:avLst/>
          </a:prstGeom>
        </p:spPr>
      </p:pic>
      <p:pic>
        <p:nvPicPr>
          <p:cNvPr id="203" name="Picture 202">
            <a:extLst>
              <a:ext uri="{FF2B5EF4-FFF2-40B4-BE49-F238E27FC236}">
                <a16:creationId xmlns:a16="http://schemas.microsoft.com/office/drawing/2014/main" id="{F17AAD84-443E-F1B0-BE06-C6E475E188C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44519" y="5953723"/>
            <a:ext cx="861119" cy="544134"/>
          </a:xfrm>
          <a:prstGeom prst="rect">
            <a:avLst/>
          </a:prstGeom>
        </p:spPr>
      </p:pic>
      <p:pic>
        <p:nvPicPr>
          <p:cNvPr id="201" name="Picture 200">
            <a:extLst>
              <a:ext uri="{FF2B5EF4-FFF2-40B4-BE49-F238E27FC236}">
                <a16:creationId xmlns:a16="http://schemas.microsoft.com/office/drawing/2014/main" id="{3588A3E3-7442-AAA2-A86D-41EE26A9E5B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81691" y="5912212"/>
            <a:ext cx="975749" cy="612846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539C2D61-3821-782B-69EE-2E347EC01F2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54668" y="3882080"/>
            <a:ext cx="1076984" cy="829769"/>
          </a:xfrm>
          <a:prstGeom prst="rect">
            <a:avLst/>
          </a:prstGeom>
        </p:spPr>
      </p:pic>
      <p:pic>
        <p:nvPicPr>
          <p:cNvPr id="188" name="Picture 187">
            <a:extLst>
              <a:ext uri="{FF2B5EF4-FFF2-40B4-BE49-F238E27FC236}">
                <a16:creationId xmlns:a16="http://schemas.microsoft.com/office/drawing/2014/main" id="{70E6AEBA-CB9B-2141-0808-D912F5C9198D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5400000">
            <a:off x="707409" y="4131867"/>
            <a:ext cx="1115453" cy="943135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E39B7B54-C512-E4DF-DDFB-10537AA54E6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69946" y="4051836"/>
            <a:ext cx="1079731" cy="1111047"/>
          </a:xfrm>
          <a:prstGeom prst="rect">
            <a:avLst/>
          </a:prstGeom>
        </p:spPr>
      </p:pic>
      <p:pic>
        <p:nvPicPr>
          <p:cNvPr id="192" name="Picture 191">
            <a:extLst>
              <a:ext uri="{FF2B5EF4-FFF2-40B4-BE49-F238E27FC236}">
                <a16:creationId xmlns:a16="http://schemas.microsoft.com/office/drawing/2014/main" id="{DDADFC46-C04E-2051-F1BE-4A4A04C31D7A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0800000">
            <a:off x="6569614" y="4075144"/>
            <a:ext cx="1089617" cy="772943"/>
          </a:xfrm>
          <a:prstGeom prst="rect">
            <a:avLst/>
          </a:pr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4A7C9D80-76E1-9876-957C-7C300B2CE0F3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39931" y="5356492"/>
            <a:ext cx="1086746" cy="923357"/>
          </a:xfrm>
          <a:prstGeom prst="rect">
            <a:avLst/>
          </a:prstGeom>
        </p:spPr>
      </p:pic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A70A58D3-E175-7C19-D165-A6BE2A897DBC}"/>
              </a:ext>
            </a:extLst>
          </p:cNvPr>
          <p:cNvSpPr/>
          <p:nvPr/>
        </p:nvSpPr>
        <p:spPr>
          <a:xfrm>
            <a:off x="304800" y="1136073"/>
            <a:ext cx="9418985" cy="5585402"/>
          </a:xfrm>
          <a:prstGeom prst="roundRect">
            <a:avLst>
              <a:gd name="adj" fmla="val 5257"/>
            </a:avLst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082205-A250-19AE-D266-FE69A4816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59" y="379337"/>
            <a:ext cx="10515600" cy="657370"/>
          </a:xfrm>
        </p:spPr>
        <p:txBody>
          <a:bodyPr>
            <a:noAutofit/>
          </a:bodyPr>
          <a:lstStyle/>
          <a:p>
            <a:r>
              <a:rPr lang="en-US" sz="4000" b="1" dirty="0"/>
              <a:t>TPAC2025 WoT Plugfest network configuration</a:t>
            </a:r>
            <a:endParaRPr lang="en-JP" sz="4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CE296-7B7F-8CD6-0963-22BE59D4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E34CC7-161B-A9BB-3551-98D804EE03DE}"/>
              </a:ext>
            </a:extLst>
          </p:cNvPr>
          <p:cNvSpPr/>
          <p:nvPr/>
        </p:nvSpPr>
        <p:spPr>
          <a:xfrm>
            <a:off x="3886499" y="1246108"/>
            <a:ext cx="2549237" cy="4909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Plugfest wifi / Ethernet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258C24-FE95-78A5-8BBC-34E2C033A59B}"/>
              </a:ext>
            </a:extLst>
          </p:cNvPr>
          <p:cNvSpPr/>
          <p:nvPr/>
        </p:nvSpPr>
        <p:spPr>
          <a:xfrm>
            <a:off x="8423631" y="1626429"/>
            <a:ext cx="1300154" cy="5422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TPAC</a:t>
            </a:r>
          </a:p>
          <a:p>
            <a:pPr algn="ctr"/>
            <a:r>
              <a:rPr lang="en-JP" dirty="0"/>
              <a:t>WiFi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838626B-A06E-775C-D116-F9928D1FAD9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6435736" y="1491604"/>
            <a:ext cx="1987895" cy="405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B19A114-2F78-2D05-E5BF-FEFC630D7710}"/>
              </a:ext>
            </a:extLst>
          </p:cNvPr>
          <p:cNvSpPr/>
          <p:nvPr/>
        </p:nvSpPr>
        <p:spPr>
          <a:xfrm>
            <a:off x="3716791" y="3466263"/>
            <a:ext cx="1812967" cy="668193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ECHONET</a:t>
            </a:r>
          </a:p>
          <a:p>
            <a:pPr algn="ctr"/>
            <a:r>
              <a:rPr lang="en-JP" dirty="0"/>
              <a:t>WoT Proxy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5641BE-C05C-41B6-A45E-C7ADA1718F9C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 flipH="1">
            <a:off x="4623275" y="1737100"/>
            <a:ext cx="537843" cy="17291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829E062-C46A-771A-D7FD-125701F06AE3}"/>
              </a:ext>
            </a:extLst>
          </p:cNvPr>
          <p:cNvSpPr/>
          <p:nvPr/>
        </p:nvSpPr>
        <p:spPr>
          <a:xfrm>
            <a:off x="6225455" y="3466263"/>
            <a:ext cx="1748976" cy="665029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Hitachi</a:t>
            </a:r>
          </a:p>
          <a:p>
            <a:pPr algn="ctr"/>
            <a:r>
              <a:rPr lang="en-JP" dirty="0"/>
              <a:t>Motor/Encoder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104453E-669E-9E35-1072-428E3EFEAAA9}"/>
              </a:ext>
            </a:extLst>
          </p:cNvPr>
          <p:cNvCxnSpPr>
            <a:cxnSpLocks/>
            <a:stCxn id="9" idx="2"/>
            <a:endCxn id="21" idx="0"/>
          </p:cNvCxnSpPr>
          <p:nvPr/>
        </p:nvCxnSpPr>
        <p:spPr>
          <a:xfrm>
            <a:off x="5161118" y="1737100"/>
            <a:ext cx="1938825" cy="17291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2F53B16-C54C-64C5-8CF3-7E1CC080B682}"/>
              </a:ext>
            </a:extLst>
          </p:cNvPr>
          <p:cNvSpPr/>
          <p:nvPr/>
        </p:nvSpPr>
        <p:spPr>
          <a:xfrm>
            <a:off x="8153400" y="3438252"/>
            <a:ext cx="1308108" cy="6681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Consumers</a:t>
            </a:r>
          </a:p>
          <a:p>
            <a:pPr algn="ctr"/>
            <a:r>
              <a:rPr lang="en-JP" dirty="0"/>
              <a:t>(Hitachi, 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073FF3-D30C-59A5-B2D1-0502A22A8BC8}"/>
              </a:ext>
            </a:extLst>
          </p:cNvPr>
          <p:cNvCxnSpPr>
            <a:cxnSpLocks/>
            <a:stCxn id="9" idx="2"/>
            <a:endCxn id="25" idx="0"/>
          </p:cNvCxnSpPr>
          <p:nvPr/>
        </p:nvCxnSpPr>
        <p:spPr>
          <a:xfrm>
            <a:off x="5161118" y="1737100"/>
            <a:ext cx="3646336" cy="1701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F6CB5BD-3840-F263-E16F-27930166CB8E}"/>
              </a:ext>
            </a:extLst>
          </p:cNvPr>
          <p:cNvSpPr/>
          <p:nvPr/>
        </p:nvSpPr>
        <p:spPr>
          <a:xfrm>
            <a:off x="767168" y="3507435"/>
            <a:ext cx="2211691" cy="668193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Conexxus</a:t>
            </a:r>
          </a:p>
          <a:p>
            <a:pPr algn="ctr"/>
            <a:r>
              <a:rPr lang="en-US" dirty="0"/>
              <a:t>Cash Deposit Device</a:t>
            </a:r>
            <a:endParaRPr lang="en-JP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1AB290F-E6E7-BD6C-3758-CE9EA8B438E5}"/>
              </a:ext>
            </a:extLst>
          </p:cNvPr>
          <p:cNvCxnSpPr>
            <a:cxnSpLocks/>
            <a:stCxn id="9" idx="2"/>
            <a:endCxn id="33" idx="0"/>
          </p:cNvCxnSpPr>
          <p:nvPr/>
        </p:nvCxnSpPr>
        <p:spPr>
          <a:xfrm flipH="1">
            <a:off x="1873014" y="1737100"/>
            <a:ext cx="3288104" cy="1770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625053E-283C-24DF-0C9F-C9EA7277425A}"/>
              </a:ext>
            </a:extLst>
          </p:cNvPr>
          <p:cNvCxnSpPr>
            <a:cxnSpLocks/>
            <a:stCxn id="44" idx="3"/>
            <a:endCxn id="42" idx="1"/>
          </p:cNvCxnSpPr>
          <p:nvPr/>
        </p:nvCxnSpPr>
        <p:spPr>
          <a:xfrm flipV="1">
            <a:off x="7730232" y="5160621"/>
            <a:ext cx="1103228" cy="49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E906B454-1E7A-3CC5-318A-0BDB3142C6C5}"/>
              </a:ext>
            </a:extLst>
          </p:cNvPr>
          <p:cNvSpPr/>
          <p:nvPr/>
        </p:nvSpPr>
        <p:spPr>
          <a:xfrm>
            <a:off x="2841992" y="5636017"/>
            <a:ext cx="718455" cy="347195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Door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33E961D-B806-F3C8-FFB5-823F267ED354}"/>
              </a:ext>
            </a:extLst>
          </p:cNvPr>
          <p:cNvSpPr/>
          <p:nvPr/>
        </p:nvSpPr>
        <p:spPr>
          <a:xfrm>
            <a:off x="3729177" y="5636016"/>
            <a:ext cx="861456" cy="347195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AirCon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7F89914-F365-83F8-23AC-C74218C5339E}"/>
              </a:ext>
            </a:extLst>
          </p:cNvPr>
          <p:cNvSpPr/>
          <p:nvPr/>
        </p:nvSpPr>
        <p:spPr>
          <a:xfrm>
            <a:off x="4744519" y="5636016"/>
            <a:ext cx="861456" cy="347195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Light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AEC42C-C1B3-6747-AFBE-FABDDBD6DC45}"/>
              </a:ext>
            </a:extLst>
          </p:cNvPr>
          <p:cNvSpPr/>
          <p:nvPr/>
        </p:nvSpPr>
        <p:spPr>
          <a:xfrm>
            <a:off x="9773566" y="5589810"/>
            <a:ext cx="2248895" cy="6825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other remote devices</a:t>
            </a:r>
          </a:p>
          <a:p>
            <a:pPr algn="ctr"/>
            <a:r>
              <a:rPr lang="en-JP" dirty="0"/>
              <a:t>(on JAIST, Ishikawa)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878A9DF-3FB0-C50F-78E4-EAB11DC4F027}"/>
              </a:ext>
            </a:extLst>
          </p:cNvPr>
          <p:cNvCxnSpPr>
            <a:cxnSpLocks/>
            <a:stCxn id="50" idx="0"/>
            <a:endCxn id="53" idx="2"/>
          </p:cNvCxnSpPr>
          <p:nvPr/>
        </p:nvCxnSpPr>
        <p:spPr>
          <a:xfrm flipV="1">
            <a:off x="10898014" y="4906291"/>
            <a:ext cx="0" cy="6835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68B0B49-973A-C018-202D-961555D390C5}"/>
              </a:ext>
            </a:extLst>
          </p:cNvPr>
          <p:cNvCxnSpPr>
            <a:cxnSpLocks/>
            <a:stCxn id="47" idx="0"/>
            <a:endCxn id="44" idx="1"/>
          </p:cNvCxnSpPr>
          <p:nvPr/>
        </p:nvCxnSpPr>
        <p:spPr>
          <a:xfrm flipV="1">
            <a:off x="3201220" y="5210192"/>
            <a:ext cx="3011486" cy="425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61682C3-D641-8097-2566-525D76ECFAA4}"/>
              </a:ext>
            </a:extLst>
          </p:cNvPr>
          <p:cNvCxnSpPr>
            <a:cxnSpLocks/>
            <a:stCxn id="48" idx="0"/>
            <a:endCxn id="44" idx="1"/>
          </p:cNvCxnSpPr>
          <p:nvPr/>
        </p:nvCxnSpPr>
        <p:spPr>
          <a:xfrm flipV="1">
            <a:off x="4159905" y="5210192"/>
            <a:ext cx="2052801" cy="425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AD43030-15A3-F034-B6A5-6320E53DC302}"/>
              </a:ext>
            </a:extLst>
          </p:cNvPr>
          <p:cNvCxnSpPr>
            <a:cxnSpLocks/>
            <a:stCxn id="49" idx="0"/>
            <a:endCxn id="44" idx="1"/>
          </p:cNvCxnSpPr>
          <p:nvPr/>
        </p:nvCxnSpPr>
        <p:spPr>
          <a:xfrm flipV="1">
            <a:off x="5175247" y="5210192"/>
            <a:ext cx="1037459" cy="425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Picture 35">
            <a:extLst>
              <a:ext uri="{FF2B5EF4-FFF2-40B4-BE49-F238E27FC236}">
                <a16:creationId xmlns:a16="http://schemas.microsoft.com/office/drawing/2014/main" id="{68C086F6-FD12-DCCD-DC73-338599CC81D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8768" y="3204515"/>
            <a:ext cx="333376" cy="400596"/>
          </a:xfrm>
          <a:prstGeom prst="rect">
            <a:avLst/>
          </a:prstGeom>
        </p:spPr>
      </p:pic>
      <p:pic>
        <p:nvPicPr>
          <p:cNvPr id="75" name="Picture 35">
            <a:extLst>
              <a:ext uri="{FF2B5EF4-FFF2-40B4-BE49-F238E27FC236}">
                <a16:creationId xmlns:a16="http://schemas.microsoft.com/office/drawing/2014/main" id="{91BACBFC-FE0A-5438-ACF2-FFD16202126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71442" y="3214716"/>
            <a:ext cx="333376" cy="400596"/>
          </a:xfrm>
          <a:prstGeom prst="rect">
            <a:avLst/>
          </a:prstGeom>
        </p:spPr>
      </p:pic>
      <p:pic>
        <p:nvPicPr>
          <p:cNvPr id="77" name="Picture 35">
            <a:extLst>
              <a:ext uri="{FF2B5EF4-FFF2-40B4-BE49-F238E27FC236}">
                <a16:creationId xmlns:a16="http://schemas.microsoft.com/office/drawing/2014/main" id="{99E8E1F1-29C3-0B32-E865-022AD86DA83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164" y="3250632"/>
            <a:ext cx="333376" cy="400596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6669B163-8DD0-7112-4713-A9C6B98964C0}"/>
              </a:ext>
            </a:extLst>
          </p:cNvPr>
          <p:cNvSpPr txBox="1"/>
          <p:nvPr/>
        </p:nvSpPr>
        <p:spPr>
          <a:xfrm flipH="1">
            <a:off x="9029262" y="4374179"/>
            <a:ext cx="6545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100" dirty="0"/>
              <a:t>Cellular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100EF2C-680D-A2AF-87E4-5A9498BDE814}"/>
              </a:ext>
            </a:extLst>
          </p:cNvPr>
          <p:cNvSpPr txBox="1"/>
          <p:nvPr/>
        </p:nvSpPr>
        <p:spPr>
          <a:xfrm>
            <a:off x="4145442" y="1727865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100" dirty="0"/>
              <a:t>192.168.1.1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827AF42-C89A-7208-CA30-BDC17B4E6A0D}"/>
              </a:ext>
            </a:extLst>
          </p:cNvPr>
          <p:cNvSpPr txBox="1"/>
          <p:nvPr/>
        </p:nvSpPr>
        <p:spPr>
          <a:xfrm>
            <a:off x="8239995" y="3201323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100" dirty="0"/>
              <a:t>192.168.1.11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96A7158-0438-D679-26AC-23A1A8092BA0}"/>
              </a:ext>
            </a:extLst>
          </p:cNvPr>
          <p:cNvSpPr txBox="1"/>
          <p:nvPr/>
        </p:nvSpPr>
        <p:spPr>
          <a:xfrm>
            <a:off x="6846004" y="3187302"/>
            <a:ext cx="11192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100" dirty="0"/>
              <a:t>192.168.1.12,17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2EDEEFA-A617-B58E-C2A8-1DE9F8DB2800}"/>
              </a:ext>
            </a:extLst>
          </p:cNvPr>
          <p:cNvSpPr txBox="1"/>
          <p:nvPr/>
        </p:nvSpPr>
        <p:spPr>
          <a:xfrm>
            <a:off x="4054196" y="3135606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100" dirty="0"/>
              <a:t>192.168.1.16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FFCD255-5D10-2789-A6B2-DA1718814D1D}"/>
              </a:ext>
            </a:extLst>
          </p:cNvPr>
          <p:cNvSpPr txBox="1"/>
          <p:nvPr/>
        </p:nvSpPr>
        <p:spPr>
          <a:xfrm>
            <a:off x="1860143" y="3250632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100" dirty="0"/>
              <a:t>192.168.1.8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AD7614D-BDDD-44B5-46AB-C22102F57DAD}"/>
              </a:ext>
            </a:extLst>
          </p:cNvPr>
          <p:cNvSpPr txBox="1"/>
          <p:nvPr/>
        </p:nvSpPr>
        <p:spPr>
          <a:xfrm>
            <a:off x="7189895" y="1491144"/>
            <a:ext cx="8499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100" dirty="0"/>
              <a:t>10.1.0.0/16</a:t>
            </a:r>
          </a:p>
        </p:txBody>
      </p:sp>
      <p:pic>
        <p:nvPicPr>
          <p:cNvPr id="109" name="Picture 35">
            <a:extLst>
              <a:ext uri="{FF2B5EF4-FFF2-40B4-BE49-F238E27FC236}">
                <a16:creationId xmlns:a16="http://schemas.microsoft.com/office/drawing/2014/main" id="{58474B98-391D-6EDA-8B3B-3E6915D19B7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99229" y="3261567"/>
            <a:ext cx="333376" cy="40059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3A391A-FFB4-7607-4474-D3D5B124876B}"/>
              </a:ext>
            </a:extLst>
          </p:cNvPr>
          <p:cNvCxnSpPr>
            <a:cxnSpLocks/>
            <a:stCxn id="10" idx="1"/>
            <a:endCxn id="17" idx="0"/>
          </p:cNvCxnSpPr>
          <p:nvPr/>
        </p:nvCxnSpPr>
        <p:spPr>
          <a:xfrm flipH="1">
            <a:off x="4623275" y="1897564"/>
            <a:ext cx="3800356" cy="1568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F584B0B-83C7-FEDB-F0B2-8A8C88BC1C90}"/>
              </a:ext>
            </a:extLst>
          </p:cNvPr>
          <p:cNvCxnSpPr>
            <a:cxnSpLocks/>
            <a:stCxn id="10" idx="3"/>
            <a:endCxn id="16" idx="3"/>
          </p:cNvCxnSpPr>
          <p:nvPr/>
        </p:nvCxnSpPr>
        <p:spPr>
          <a:xfrm>
            <a:off x="9723785" y="1897564"/>
            <a:ext cx="1077897" cy="10158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3C186BD-EBA9-951B-677A-345B45A97920}"/>
              </a:ext>
            </a:extLst>
          </p:cNvPr>
          <p:cNvSpPr/>
          <p:nvPr/>
        </p:nvSpPr>
        <p:spPr>
          <a:xfrm>
            <a:off x="8833460" y="4848088"/>
            <a:ext cx="887292" cy="6250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mobile router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5C3BB3D-C560-375E-DB49-1478C1E9A61B}"/>
              </a:ext>
            </a:extLst>
          </p:cNvPr>
          <p:cNvCxnSpPr>
            <a:cxnSpLocks/>
            <a:stCxn id="16" idx="1"/>
            <a:endCxn id="42" idx="3"/>
          </p:cNvCxnSpPr>
          <p:nvPr/>
        </p:nvCxnSpPr>
        <p:spPr>
          <a:xfrm flipH="1">
            <a:off x="9720752" y="3462512"/>
            <a:ext cx="1080930" cy="16981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6F29D283-24A5-4277-0AB0-02C7E76BD5CA}"/>
              </a:ext>
            </a:extLst>
          </p:cNvPr>
          <p:cNvSpPr/>
          <p:nvPr/>
        </p:nvSpPr>
        <p:spPr>
          <a:xfrm>
            <a:off x="10098060" y="4268407"/>
            <a:ext cx="1599907" cy="637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ECHONET lite Web API GW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9A52960-DFE0-9656-7B10-BB20C28FF4BA}"/>
              </a:ext>
            </a:extLst>
          </p:cNvPr>
          <p:cNvSpPr txBox="1"/>
          <p:nvPr/>
        </p:nvSpPr>
        <p:spPr>
          <a:xfrm flipH="1">
            <a:off x="7661499" y="5377945"/>
            <a:ext cx="8316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100" dirty="0"/>
              <a:t>Ethernet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B1F659E-B369-1474-6CCF-8985D9164CB1}"/>
              </a:ext>
            </a:extLst>
          </p:cNvPr>
          <p:cNvCxnSpPr>
            <a:cxnSpLocks/>
            <a:stCxn id="53" idx="0"/>
          </p:cNvCxnSpPr>
          <p:nvPr/>
        </p:nvCxnSpPr>
        <p:spPr>
          <a:xfrm flipH="1" flipV="1">
            <a:off x="10801682" y="3320279"/>
            <a:ext cx="96332" cy="948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loud 15">
            <a:extLst>
              <a:ext uri="{FF2B5EF4-FFF2-40B4-BE49-F238E27FC236}">
                <a16:creationId xmlns:a16="http://schemas.microsoft.com/office/drawing/2014/main" id="{0B198F09-1A1C-7500-E5E8-BD4BE49E3D33}"/>
              </a:ext>
            </a:extLst>
          </p:cNvPr>
          <p:cNvSpPr/>
          <p:nvPr/>
        </p:nvSpPr>
        <p:spPr>
          <a:xfrm>
            <a:off x="10001728" y="2880114"/>
            <a:ext cx="1599907" cy="583019"/>
          </a:xfrm>
          <a:prstGeom prst="clou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>
                <a:solidFill>
                  <a:sysClr val="windowText" lastClr="000000"/>
                </a:solidFill>
              </a:rPr>
              <a:t>Internet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623FCC6-8E23-C8FE-52FA-38ED186FB0DF}"/>
              </a:ext>
            </a:extLst>
          </p:cNvPr>
          <p:cNvSpPr txBox="1"/>
          <p:nvPr/>
        </p:nvSpPr>
        <p:spPr>
          <a:xfrm>
            <a:off x="382286" y="1247856"/>
            <a:ext cx="10332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600" dirty="0"/>
              <a:t>Room 307</a:t>
            </a:r>
          </a:p>
        </p:txBody>
      </p:sp>
      <p:cxnSp>
        <p:nvCxnSpPr>
          <p:cNvPr id="147" name="Curved Connector 146">
            <a:extLst>
              <a:ext uri="{FF2B5EF4-FFF2-40B4-BE49-F238E27FC236}">
                <a16:creationId xmlns:a16="http://schemas.microsoft.com/office/drawing/2014/main" id="{F61E196F-C0EF-41C8-A962-1BABC43DFA00}"/>
              </a:ext>
            </a:extLst>
          </p:cNvPr>
          <p:cNvCxnSpPr>
            <a:cxnSpLocks/>
            <a:stCxn id="47" idx="0"/>
            <a:endCxn id="17" idx="2"/>
          </p:cNvCxnSpPr>
          <p:nvPr/>
        </p:nvCxnSpPr>
        <p:spPr>
          <a:xfrm rot="5400000" flipH="1" flipV="1">
            <a:off x="3161467" y="4174210"/>
            <a:ext cx="1501561" cy="1422055"/>
          </a:xfrm>
          <a:prstGeom prst="curved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urved Connector 148">
            <a:extLst>
              <a:ext uri="{FF2B5EF4-FFF2-40B4-BE49-F238E27FC236}">
                <a16:creationId xmlns:a16="http://schemas.microsoft.com/office/drawing/2014/main" id="{7DE74F2D-6C4B-5391-A3BE-028D58EE8E61}"/>
              </a:ext>
            </a:extLst>
          </p:cNvPr>
          <p:cNvCxnSpPr>
            <a:cxnSpLocks/>
            <a:stCxn id="48" idx="0"/>
            <a:endCxn id="17" idx="2"/>
          </p:cNvCxnSpPr>
          <p:nvPr/>
        </p:nvCxnSpPr>
        <p:spPr>
          <a:xfrm rot="5400000" flipH="1" flipV="1">
            <a:off x="3640810" y="4653551"/>
            <a:ext cx="1501560" cy="463370"/>
          </a:xfrm>
          <a:prstGeom prst="curved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urved Connector 151">
            <a:extLst>
              <a:ext uri="{FF2B5EF4-FFF2-40B4-BE49-F238E27FC236}">
                <a16:creationId xmlns:a16="http://schemas.microsoft.com/office/drawing/2014/main" id="{51884D94-5FA2-256B-172D-379A7A772437}"/>
              </a:ext>
            </a:extLst>
          </p:cNvPr>
          <p:cNvCxnSpPr>
            <a:cxnSpLocks/>
            <a:stCxn id="49" idx="0"/>
            <a:endCxn id="17" idx="2"/>
          </p:cNvCxnSpPr>
          <p:nvPr/>
        </p:nvCxnSpPr>
        <p:spPr>
          <a:xfrm rot="16200000" flipV="1">
            <a:off x="4148481" y="4609250"/>
            <a:ext cx="1501560" cy="551972"/>
          </a:xfrm>
          <a:prstGeom prst="curved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urved Connector 154">
            <a:extLst>
              <a:ext uri="{FF2B5EF4-FFF2-40B4-BE49-F238E27FC236}">
                <a16:creationId xmlns:a16="http://schemas.microsoft.com/office/drawing/2014/main" id="{F85C99FA-03C3-6FC6-1509-972F1E1DA881}"/>
              </a:ext>
            </a:extLst>
          </p:cNvPr>
          <p:cNvCxnSpPr>
            <a:cxnSpLocks/>
            <a:stCxn id="50" idx="0"/>
            <a:endCxn id="17" idx="2"/>
          </p:cNvCxnSpPr>
          <p:nvPr/>
        </p:nvCxnSpPr>
        <p:spPr>
          <a:xfrm rot="16200000" flipV="1">
            <a:off x="7032968" y="1724763"/>
            <a:ext cx="1455354" cy="6274739"/>
          </a:xfrm>
          <a:prstGeom prst="curvedConnector3">
            <a:avLst>
              <a:gd name="adj1" fmla="val 68087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7B768B66-BC2A-C3B8-364E-EDF61C837EB2}"/>
              </a:ext>
            </a:extLst>
          </p:cNvPr>
          <p:cNvSpPr/>
          <p:nvPr/>
        </p:nvSpPr>
        <p:spPr>
          <a:xfrm>
            <a:off x="6212706" y="4952476"/>
            <a:ext cx="1517526" cy="5154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dirty="0"/>
              <a:t>ECHONET lite</a:t>
            </a:r>
          </a:p>
          <a:p>
            <a:pPr algn="ctr"/>
            <a:r>
              <a:rPr lang="en-JP" dirty="0"/>
              <a:t>controller</a:t>
            </a:r>
          </a:p>
        </p:txBody>
      </p:sp>
    </p:spTree>
    <p:extLst>
      <p:ext uri="{BB962C8B-B14F-4D97-AF65-F5344CB8AC3E}">
        <p14:creationId xmlns:p14="http://schemas.microsoft.com/office/powerpoint/2010/main" val="1035477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713AD-A535-36A2-986F-BD14BCE92B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endParaRPr lang="en-JP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A311D-9CE1-1B3D-01BB-655003466F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JP" dirty="0"/>
              <a:t>W3C TPAC2025 Web of Things Plugfest Outcome</a:t>
            </a:r>
          </a:p>
          <a:p>
            <a:r>
              <a:rPr lang="en-JP" dirty="0"/>
              <a:t>2025-11-12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77EC4-2AF3-3CBA-DE12-058DE867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W3C TPAC2025 breakout - Web of Things Live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3710143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-09-DD-WoT-TPAC-Session-Presenter.pptx" id="{2F03DFF5-91A5-4415-8067-BEB302ADB9C1}" vid="{431ED2FE-334E-4AC5-99DC-F1C042D2CE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  <clbl:label id="{9d258917-277f-42cd-a3cd-14c4e9ee58bc}" enabled="1" method="Standard" siteId="{38ae3bcd-9579-4fd4-adda-b42e1495d55a}" removed="0"/>
  <clbl:label id="{f54277c9-dafe-44aa-85a4-73d5c7c52450}" enabled="0" method="" siteId="{f54277c9-dafe-44aa-85a4-73d5c7c5245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Template-2023-09-DD-WoT-TPAC-Session-Presenter (1)</Template>
  <TotalTime>0</TotalTime>
  <Words>141</Words>
  <Application>Microsoft Macintosh PowerPoint</Application>
  <PresentationFormat>Widescreen</PresentationFormat>
  <Paragraphs>63</Paragraphs>
  <Slides>3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TPAC2025 WoT plugfest network configuration</vt:lpstr>
      <vt:lpstr>TPAC2025 WoT Plugfest network configuration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2025-11-06T02:04:40Z</dcterms:created>
  <dcterms:modified xsi:type="dcterms:W3CDTF">2025-11-11T08:18:22Z</dcterms:modified>
</cp:coreProperties>
</file>